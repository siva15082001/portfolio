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8229600" cy="3657600"/>
          </a:xfrm>
          <a:prstGeom prst="round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Life Insurance Customer Experience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C300"/>
                </a:solidFill>
              </a:defRPr>
            </a:pPr>
            <a:r>
              <a:t>Product-Market Fit Analysis &amp; Strategic Recommendations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Executive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2286000" cy="1371600"/>
          </a:xfrm>
          <a:prstGeom prst="roundRect">
            <a:avLst/>
          </a:prstGeom>
          <a:solidFill>
            <a:srgbClr val="F0F5FA"/>
          </a:solidFill>
          <a:ln w="2540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78D7"/>
                </a:solidFill>
              </a:defRPr>
            </a:pPr>
            <a:r>
              <a:t>285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Total Participants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1645920"/>
            <a:ext cx="2286000" cy="1371600"/>
          </a:xfrm>
          <a:prstGeom prst="roundRect">
            <a:avLst/>
          </a:prstGeom>
          <a:solidFill>
            <a:srgbClr val="F0F5FA"/>
          </a:solidFill>
          <a:ln w="2540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82880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78D7"/>
                </a:solidFill>
              </a:defRPr>
            </a:pPr>
            <a:r>
              <a:t>86%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Have Coverage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645920"/>
            <a:ext cx="2286000" cy="1371600"/>
          </a:xfrm>
          <a:prstGeom prst="roundRect">
            <a:avLst/>
          </a:prstGeom>
          <a:solidFill>
            <a:srgbClr val="F0F5FA"/>
          </a:solidFill>
          <a:ln w="2540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82880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78D7"/>
                </a:solidFill>
              </a:defRPr>
            </a:pPr>
            <a:r>
              <a:t>32-51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Age Range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4632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Comprehensive study of 285 life insurance policyholders across demographics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Mixed methodology: Primary user interviews and secondary market research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Key focus areas: Policy awareness, provider engagement, customer satisfaction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Critical gaps identified in customer education and post-purchase support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Strategic recommendations for enhanced customer experience and retention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Research Methodology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2286000" cy="1371600"/>
          </a:xfrm>
          <a:prstGeom prst="roundRect">
            <a:avLst/>
          </a:prstGeom>
          <a:solidFill>
            <a:srgbClr val="F0F5FA"/>
          </a:solidFill>
          <a:ln w="2540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78D7"/>
                </a:solidFill>
              </a:defRPr>
            </a:pPr>
            <a:r>
              <a:t>245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With Active Policies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1645920"/>
            <a:ext cx="2286000" cy="1371600"/>
          </a:xfrm>
          <a:prstGeom prst="roundRect">
            <a:avLst/>
          </a:prstGeom>
          <a:solidFill>
            <a:srgbClr val="F0F5FA"/>
          </a:solidFill>
          <a:ln w="2540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82880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78D7"/>
                </a:solidFill>
              </a:defRPr>
            </a:pPr>
            <a: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Without Coverage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645920"/>
            <a:ext cx="2286000" cy="1371600"/>
          </a:xfrm>
          <a:prstGeom prst="roundRect">
            <a:avLst/>
          </a:prstGeom>
          <a:solidFill>
            <a:srgbClr val="F0F5FA"/>
          </a:solidFill>
          <a:ln w="2540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82880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78D7"/>
                </a:solidFill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Key Focus Areas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4632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Primary Research: In-depth interviews with 285 policyholders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Secondary Research: Market analysis and industry benchmarking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Demographics: Age 25-54, diverse employment sectors, varying coverage types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Interview Duration: 45-60 minutes per participant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Data Collection Period: Q4 2024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Participant Demographics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2286000" cy="1371600"/>
          </a:xfrm>
          <a:prstGeom prst="roundRect">
            <a:avLst/>
          </a:prstGeom>
          <a:solidFill>
            <a:srgbClr val="F0F5FA"/>
          </a:solidFill>
          <a:ln w="2540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78D7"/>
                </a:solidFill>
              </a:defRPr>
            </a:pPr>
            <a:r>
              <a:t>67%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Employer Plans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1645920"/>
            <a:ext cx="2286000" cy="1371600"/>
          </a:xfrm>
          <a:prstGeom prst="roundRect">
            <a:avLst/>
          </a:prstGeom>
          <a:solidFill>
            <a:srgbClr val="F0F5FA"/>
          </a:solidFill>
          <a:ln w="2540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82880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78D7"/>
                </a:solidFill>
              </a:defRPr>
            </a:pPr>
            <a:r>
              <a:t>58%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Married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645920"/>
            <a:ext cx="2286000" cy="1371600"/>
          </a:xfrm>
          <a:prstGeom prst="roundRect">
            <a:avLst/>
          </a:prstGeom>
          <a:solidFill>
            <a:srgbClr val="F0F5FA"/>
          </a:solidFill>
          <a:ln w="2540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82880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78D7"/>
                </a:solidFill>
              </a:defRPr>
            </a:pPr>
            <a:r>
              <a:t>42%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Age 35-44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4632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Age Distribution: 35% (25-34), 42% (35-44), 23% (45-54)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Gender: 43% Female, 57% Male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Relationship Status: 58% Married, 28% Single, 14% Other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Employment: 82% Full-time, 12% Part-time, 6% Self-employed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Coverage Source: 67% Employer-provided, 24% Individual, 9% Mixed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Critical Finding: Low Policy Awareness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965960"/>
            <a:ext cx="457200" cy="457200"/>
          </a:xfrm>
          <a:prstGeom prst="ellipse">
            <a:avLst/>
          </a:prstGeom>
          <a:solidFill>
            <a:srgbClr val="FFC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03366"/>
                </a:solidFill>
              </a:defRPr>
            </a:pPr>
            <a: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1645920"/>
            <a:ext cx="7315200" cy="1097280"/>
          </a:xfrm>
          <a:prstGeom prst="roundRect">
            <a:avLst/>
          </a:prstGeom>
          <a:solidFill>
            <a:srgbClr val="F0F5FA"/>
          </a:solidFill>
          <a:ln w="1905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737360"/>
            <a:ext cx="6949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72% of policyholders cannot confidently explain their coverage details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291840"/>
            <a:ext cx="457200" cy="457200"/>
          </a:xfrm>
          <a:prstGeom prst="ellipse">
            <a:avLst/>
          </a:prstGeom>
          <a:solidFill>
            <a:srgbClr val="FFC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03366"/>
                </a:solidFill>
              </a:defRPr>
            </a:pPr>
            <a: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80160" y="2971800"/>
            <a:ext cx="7315200" cy="1097280"/>
          </a:xfrm>
          <a:prstGeom prst="roundRect">
            <a:avLst/>
          </a:prstGeom>
          <a:solidFill>
            <a:srgbClr val="F0F5FA"/>
          </a:solidFill>
          <a:ln w="1905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063240"/>
            <a:ext cx="6949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89% were unaware of term-to-permanent conversion options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17720"/>
            <a:ext cx="457200" cy="457200"/>
          </a:xfrm>
          <a:prstGeom prst="ellipse">
            <a:avLst/>
          </a:prstGeom>
          <a:solidFill>
            <a:srgbClr val="FFC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1772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03366"/>
                </a:solidFill>
              </a:defRPr>
            </a:pPr>
            <a: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0160" y="4297680"/>
            <a:ext cx="7315200" cy="1097280"/>
          </a:xfrm>
          <a:prstGeom prst="roundRect">
            <a:avLst/>
          </a:prstGeom>
          <a:solidFill>
            <a:srgbClr val="F0F5FA"/>
          </a:solidFill>
          <a:ln w="1905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4389120"/>
            <a:ext cx="6949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Only 18% understand their policy's full scope and benefits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943600"/>
            <a:ext cx="457200" cy="457200"/>
          </a:xfrm>
          <a:prstGeom prst="ellipse">
            <a:avLst/>
          </a:prstGeom>
          <a:solidFill>
            <a:srgbClr val="FFC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94360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03366"/>
                </a:solidFill>
              </a:defRPr>
            </a:pPr>
            <a: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80160" y="5623560"/>
            <a:ext cx="7315200" cy="1097280"/>
          </a:xfrm>
          <a:prstGeom prst="roundRect">
            <a:avLst/>
          </a:prstGeom>
          <a:solidFill>
            <a:srgbClr val="F0F5FA"/>
          </a:solidFill>
          <a:ln w="1905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5715000"/>
            <a:ext cx="6949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Confusion around insurance terminology (co-insurance, beneficiaries, riders)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7269480"/>
            <a:ext cx="457200" cy="457200"/>
          </a:xfrm>
          <a:prstGeom prst="ellipse">
            <a:avLst/>
          </a:prstGeom>
          <a:solidFill>
            <a:srgbClr val="FFC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72694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03366"/>
                </a:solidFill>
              </a:defRPr>
            </a:pPr>
            <a:r>
              <a:t>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80160" y="6949440"/>
            <a:ext cx="7315200" cy="1097280"/>
          </a:xfrm>
          <a:prstGeom prst="roundRect">
            <a:avLst/>
          </a:prstGeom>
          <a:solidFill>
            <a:srgbClr val="F0F5FA"/>
          </a:solidFill>
          <a:ln w="1905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7040880"/>
            <a:ext cx="6949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Significant education gap post-purchase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Provider Engagement Challenges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965960"/>
            <a:ext cx="457200" cy="457200"/>
          </a:xfrm>
          <a:prstGeom prst="ellipse">
            <a:avLst/>
          </a:prstGeom>
          <a:solidFill>
            <a:srgbClr val="FFC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03366"/>
                </a:solidFill>
              </a:defRPr>
            </a:pPr>
            <a: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1645920"/>
            <a:ext cx="7315200" cy="1097280"/>
          </a:xfrm>
          <a:prstGeom prst="roundRect">
            <a:avLst/>
          </a:prstGeom>
          <a:solidFill>
            <a:srgbClr val="F0F5FA"/>
          </a:solidFill>
          <a:ln w="1905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737360"/>
            <a:ext cx="6949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91% report minimal to zero interaction with their insurance provider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291840"/>
            <a:ext cx="457200" cy="457200"/>
          </a:xfrm>
          <a:prstGeom prst="ellipse">
            <a:avLst/>
          </a:prstGeom>
          <a:solidFill>
            <a:srgbClr val="FFC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03366"/>
                </a:solidFill>
              </a:defRPr>
            </a:pPr>
            <a: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80160" y="2971800"/>
            <a:ext cx="7315200" cy="1097280"/>
          </a:xfrm>
          <a:prstGeom prst="roundRect">
            <a:avLst/>
          </a:prstGeom>
          <a:solidFill>
            <a:srgbClr val="F0F5FA"/>
          </a:solidFill>
          <a:ln w="1905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063240"/>
            <a:ext cx="6949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Annual communication limited to premium notices for 78% of customers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17720"/>
            <a:ext cx="457200" cy="457200"/>
          </a:xfrm>
          <a:prstGeom prst="ellipse">
            <a:avLst/>
          </a:prstGeom>
          <a:solidFill>
            <a:srgbClr val="FFC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1772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03366"/>
                </a:solidFill>
              </a:defRPr>
            </a:pPr>
            <a: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0160" y="4297680"/>
            <a:ext cx="7315200" cy="1097280"/>
          </a:xfrm>
          <a:prstGeom prst="roundRect">
            <a:avLst/>
          </a:prstGeom>
          <a:solidFill>
            <a:srgbClr val="F0F5FA"/>
          </a:solidFill>
          <a:ln w="1905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4389120"/>
            <a:ext cx="6949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68% have never been contacted by an agent post-purchase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943600"/>
            <a:ext cx="457200" cy="457200"/>
          </a:xfrm>
          <a:prstGeom prst="ellipse">
            <a:avLst/>
          </a:prstGeom>
          <a:solidFill>
            <a:srgbClr val="FFC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94360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03366"/>
                </a:solidFill>
              </a:defRPr>
            </a:pPr>
            <a: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80160" y="5623560"/>
            <a:ext cx="7315200" cy="1097280"/>
          </a:xfrm>
          <a:prstGeom prst="roundRect">
            <a:avLst/>
          </a:prstGeom>
          <a:solidFill>
            <a:srgbClr val="F0F5FA"/>
          </a:solidFill>
          <a:ln w="1905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5715000"/>
            <a:ext cx="6949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Zero proactive support services reported by 84% of respondents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7269480"/>
            <a:ext cx="457200" cy="457200"/>
          </a:xfrm>
          <a:prstGeom prst="ellipse">
            <a:avLst/>
          </a:prstGeom>
          <a:solidFill>
            <a:srgbClr val="FFC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72694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03366"/>
                </a:solidFill>
              </a:defRPr>
            </a:pPr>
            <a:r>
              <a:t>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80160" y="6949440"/>
            <a:ext cx="7315200" cy="1097280"/>
          </a:xfrm>
          <a:prstGeom prst="roundRect">
            <a:avLst/>
          </a:prstGeom>
          <a:solidFill>
            <a:srgbClr val="F0F5FA"/>
          </a:solidFill>
          <a:ln w="1905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7040880"/>
            <a:ext cx="6949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Customer desire for regular educational touchpoints remains unmet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Top Customer Pain Points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2286000" cy="1371600"/>
          </a:xfrm>
          <a:prstGeom prst="roundRect">
            <a:avLst/>
          </a:prstGeom>
          <a:solidFill>
            <a:srgbClr val="F0F5FA"/>
          </a:solidFill>
          <a:ln w="2540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78D7"/>
                </a:solidFill>
              </a:defRPr>
            </a:pPr>
            <a:r>
              <a:t>64%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Trust Concerns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1645920"/>
            <a:ext cx="2286000" cy="1371600"/>
          </a:xfrm>
          <a:prstGeom prst="roundRect">
            <a:avLst/>
          </a:prstGeom>
          <a:solidFill>
            <a:srgbClr val="F0F5FA"/>
          </a:solidFill>
          <a:ln w="2540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82880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78D7"/>
                </a:solidFill>
              </a:defRPr>
            </a:pPr>
            <a:r>
              <a:t>82%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Find Terms Unclear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645920"/>
            <a:ext cx="2286000" cy="1371600"/>
          </a:xfrm>
          <a:prstGeom prst="roundRect">
            <a:avLst/>
          </a:prstGeom>
          <a:solidFill>
            <a:srgbClr val="F0F5FA"/>
          </a:solidFill>
          <a:ln w="2540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82880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78D7"/>
                </a:solidFill>
              </a:defRPr>
            </a:pPr>
            <a:r>
              <a:t>71%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Cost Barriers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4632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Trust Issues: 64% concerned about claim payout reliability and timing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Cost Concerns: 71% cite affordability as primary barrier to adequate coverage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Complexity: 82% find policy terms and conditions unclear or confusing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Accessibility: 59% struggle to reach support when needed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Transparency: 76% want clearer communication about policy changes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Market Insights &amp; Benchmarking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2286000" cy="1371600"/>
          </a:xfrm>
          <a:prstGeom prst="roundRect">
            <a:avLst/>
          </a:prstGeom>
          <a:solidFill>
            <a:srgbClr val="F0F5FA"/>
          </a:solidFill>
          <a:ln w="2540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78D7"/>
                </a:solidFill>
              </a:defRPr>
            </a:pPr>
            <a:r>
              <a:t>42%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Current Satisfaction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1645920"/>
            <a:ext cx="2286000" cy="1371600"/>
          </a:xfrm>
          <a:prstGeom prst="roundRect">
            <a:avLst/>
          </a:prstGeom>
          <a:solidFill>
            <a:srgbClr val="F0F5FA"/>
          </a:solidFill>
          <a:ln w="2540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82880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78D7"/>
                </a:solidFill>
              </a:defRPr>
            </a:pPr>
            <a:r>
              <a:t>47%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Digital Tool Impact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645920"/>
            <a:ext cx="2286000" cy="1371600"/>
          </a:xfrm>
          <a:prstGeom prst="roundRect">
            <a:avLst/>
          </a:prstGeom>
          <a:solidFill>
            <a:srgbClr val="F0F5FA"/>
          </a:solidFill>
          <a:ln w="2540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82880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78D7"/>
                </a:solidFill>
              </a:defRPr>
            </a:pPr>
            <a:r>
              <a:t>62%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Market Opportunity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4632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Industry avg customer satisfaction: 68% vs our sample: 42%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Digital engagement tools increase retention by 47% (industry data)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Proactive education programs improve NPS scores by 35 points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Claims processing delays damage brand trust irreparably in 89% of cases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Young professionals (25-40) represent 62% of untapped market potential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Strategic Opportunities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965960"/>
            <a:ext cx="457200" cy="457200"/>
          </a:xfrm>
          <a:prstGeom prst="ellipse">
            <a:avLst/>
          </a:prstGeom>
          <a:solidFill>
            <a:srgbClr val="FFC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03366"/>
                </a:solidFill>
              </a:defRPr>
            </a:pPr>
            <a: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1645920"/>
            <a:ext cx="7315200" cy="1097280"/>
          </a:xfrm>
          <a:prstGeom prst="roundRect">
            <a:avLst/>
          </a:prstGeom>
          <a:solidFill>
            <a:srgbClr val="F0F5FA"/>
          </a:solidFill>
          <a:ln w="1905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737360"/>
            <a:ext cx="6949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Education Platform: 94% interested in receiving optimization tips and policy education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291840"/>
            <a:ext cx="457200" cy="457200"/>
          </a:xfrm>
          <a:prstGeom prst="ellipse">
            <a:avLst/>
          </a:prstGeom>
          <a:solidFill>
            <a:srgbClr val="FFC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03366"/>
                </a:solidFill>
              </a:defRPr>
            </a:pPr>
            <a: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80160" y="2971800"/>
            <a:ext cx="7315200" cy="1097280"/>
          </a:xfrm>
          <a:prstGeom prst="roundRect">
            <a:avLst/>
          </a:prstGeom>
          <a:solidFill>
            <a:srgbClr val="F0F5FA"/>
          </a:solidFill>
          <a:ln w="1905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063240"/>
            <a:ext cx="6949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Digital Self-Service: 87% prefer online portals for policy management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17720"/>
            <a:ext cx="457200" cy="457200"/>
          </a:xfrm>
          <a:prstGeom prst="ellipse">
            <a:avLst/>
          </a:prstGeom>
          <a:solidFill>
            <a:srgbClr val="FFC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1772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03366"/>
                </a:solidFill>
              </a:defRPr>
            </a:pPr>
            <a: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0160" y="4297680"/>
            <a:ext cx="7315200" cy="1097280"/>
          </a:xfrm>
          <a:prstGeom prst="roundRect">
            <a:avLst/>
          </a:prstGeom>
          <a:solidFill>
            <a:srgbClr val="F0F5FA"/>
          </a:solidFill>
          <a:ln w="1905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4389120"/>
            <a:ext cx="6949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Proactive Communication: 91% want quarterly check-ins from providers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943600"/>
            <a:ext cx="457200" cy="457200"/>
          </a:xfrm>
          <a:prstGeom prst="ellipse">
            <a:avLst/>
          </a:prstGeom>
          <a:solidFill>
            <a:srgbClr val="FFC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94360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03366"/>
                </a:solidFill>
              </a:defRPr>
            </a:pPr>
            <a: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80160" y="5623560"/>
            <a:ext cx="7315200" cy="1097280"/>
          </a:xfrm>
          <a:prstGeom prst="roundRect">
            <a:avLst/>
          </a:prstGeom>
          <a:solidFill>
            <a:srgbClr val="F0F5FA"/>
          </a:solidFill>
          <a:ln w="1905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5715000"/>
            <a:ext cx="6949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Life Event Support: 78% need guidance during major life changes (marriage, children)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7269480"/>
            <a:ext cx="457200" cy="457200"/>
          </a:xfrm>
          <a:prstGeom prst="ellipse">
            <a:avLst/>
          </a:prstGeom>
          <a:solidFill>
            <a:srgbClr val="FFC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72694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03366"/>
                </a:solidFill>
              </a:defRPr>
            </a:pPr>
            <a:r>
              <a:t>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80160" y="6949440"/>
            <a:ext cx="7315200" cy="1097280"/>
          </a:xfrm>
          <a:prstGeom prst="roundRect">
            <a:avLst/>
          </a:prstGeom>
          <a:solidFill>
            <a:srgbClr val="F0F5FA"/>
          </a:solidFill>
          <a:ln w="1905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7040880"/>
            <a:ext cx="6949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Transparent Pricing: 83% would increase coverage with clearer cost breakdowns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FFC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Strategic Recommendations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3931920" cy="2560320"/>
          </a:xfrm>
          <a:prstGeom prst="round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C300"/>
                </a:solidFill>
              </a:defRPr>
            </a:pPr>
            <a:r>
              <a:t>Enhanced Education 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3566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Launch interactive digital platform with policy explainers, benefit calculators, and personalized optimization recommendations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645920"/>
            <a:ext cx="3931920" cy="2560320"/>
          </a:xfrm>
          <a:prstGeom prst="round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C300"/>
                </a:solidFill>
              </a:defRPr>
            </a:pPr>
            <a:r>
              <a:t>Proactive Engagement Program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468880"/>
            <a:ext cx="3566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Implement quarterly touchpoints via email/app with policy reviews, life stage guidance, and coverage assessments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80560"/>
            <a:ext cx="3931920" cy="2560320"/>
          </a:xfrm>
          <a:prstGeom prst="round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663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C300"/>
                </a:solidFill>
              </a:defRPr>
            </a:pPr>
            <a:r>
              <a:t>Simplified Communication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03520"/>
            <a:ext cx="3566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Redesign all customer communications using plain language, visual aids, and step-by-step guides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4480560"/>
            <a:ext cx="3931920" cy="2560320"/>
          </a:xfrm>
          <a:prstGeom prst="round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4663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C300"/>
                </a:solidFill>
              </a:defRPr>
            </a:pPr>
            <a:r>
              <a:t>Trust-Building Initiatives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5303520"/>
            <a:ext cx="3566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Share claim success stories, transparent processing timelines, and beneficiary support resources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Implementation Roadmap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3200400"/>
            <a:ext cx="7315200" cy="0"/>
          </a:xfrm>
          <a:prstGeom prst="line">
            <a:avLst/>
          </a:prstGeom>
          <a:ln w="50800">
            <a:solidFill>
              <a:srgbClr val="0078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1783080" y="3063240"/>
            <a:ext cx="274320" cy="274320"/>
          </a:xfrm>
          <a:prstGeom prst="ellipse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3840480"/>
            <a:ext cx="2011680" cy="2560320"/>
          </a:xfrm>
          <a:prstGeom prst="roundRect">
            <a:avLst/>
          </a:prstGeom>
          <a:solidFill>
            <a:srgbClr val="F0F5FA"/>
          </a:solidFill>
          <a:ln w="3810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8D7"/>
                </a:solidFill>
              </a:defRPr>
            </a:pPr>
            <a:r>
              <a:t>Phase 1</a:t>
            </a:r>
          </a:p>
          <a:p>
            <a:r>
              <a:t>Q1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480560"/>
            <a:ext cx="1737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00">
                <a:solidFill>
                  <a:srgbClr val="333333"/>
                </a:solidFill>
              </a:defRPr>
            </a:pPr>
            <a:r>
              <a:t>• Audit existing communications</a:t>
            </a:r>
          </a:p>
          <a:p>
            <a:pPr>
              <a:spcBef>
                <a:spcPts val="400"/>
              </a:spcBef>
              <a:defRPr sz="1100">
                <a:solidFill>
                  <a:srgbClr val="333333"/>
                </a:solidFill>
              </a:defRPr>
            </a:pPr>
            <a:r>
              <a:t>• Design education content</a:t>
            </a:r>
          </a:p>
          <a:p>
            <a:pPr>
              <a:spcBef>
                <a:spcPts val="400"/>
              </a:spcBef>
              <a:defRPr sz="1100">
                <a:solidFill>
                  <a:srgbClr val="333333"/>
                </a:solidFill>
              </a:defRPr>
            </a:pPr>
            <a:r>
              <a:t>• Develop digital platform MVP</a:t>
            </a:r>
          </a:p>
        </p:txBody>
      </p:sp>
      <p:sp>
        <p:nvSpPr>
          <p:cNvPr id="10" name="Oval 9"/>
          <p:cNvSpPr/>
          <p:nvPr/>
        </p:nvSpPr>
        <p:spPr>
          <a:xfrm>
            <a:off x="3550920" y="3063240"/>
            <a:ext cx="274320" cy="274320"/>
          </a:xfrm>
          <a:prstGeom prst="ellipse">
            <a:avLst/>
          </a:prstGeom>
          <a:solidFill>
            <a:srgbClr val="FFC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82240" y="3840480"/>
            <a:ext cx="2011680" cy="2560320"/>
          </a:xfrm>
          <a:prstGeom prst="roundRect">
            <a:avLst/>
          </a:prstGeom>
          <a:solidFill>
            <a:srgbClr val="F0F5FA"/>
          </a:solidFill>
          <a:ln w="38100">
            <a:solidFill>
              <a:srgbClr val="FFC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7368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C300"/>
                </a:solidFill>
              </a:defRPr>
            </a:pPr>
            <a:r>
              <a:t>Phase 2</a:t>
            </a:r>
          </a:p>
          <a:p>
            <a:r>
              <a:t>Q2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9400" y="4480560"/>
            <a:ext cx="1737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00">
                <a:solidFill>
                  <a:srgbClr val="333333"/>
                </a:solidFill>
              </a:defRPr>
            </a:pPr>
            <a:r>
              <a:t>• Launch education hub</a:t>
            </a:r>
          </a:p>
          <a:p>
            <a:pPr>
              <a:spcBef>
                <a:spcPts val="400"/>
              </a:spcBef>
              <a:defRPr sz="1100">
                <a:solidFill>
                  <a:srgbClr val="333333"/>
                </a:solidFill>
              </a:defRPr>
            </a:pPr>
            <a:r>
              <a:t>• Begin quarterly outreach</a:t>
            </a:r>
          </a:p>
          <a:p>
            <a:pPr>
              <a:spcBef>
                <a:spcPts val="400"/>
              </a:spcBef>
              <a:defRPr sz="1100">
                <a:solidFill>
                  <a:srgbClr val="333333"/>
                </a:solidFill>
              </a:defRPr>
            </a:pPr>
            <a:r>
              <a:t>• Train support teams</a:t>
            </a:r>
          </a:p>
        </p:txBody>
      </p:sp>
      <p:sp>
        <p:nvSpPr>
          <p:cNvPr id="14" name="Oval 13"/>
          <p:cNvSpPr/>
          <p:nvPr/>
        </p:nvSpPr>
        <p:spPr>
          <a:xfrm>
            <a:off x="5318760" y="3063240"/>
            <a:ext cx="274320" cy="27432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50080" y="3840480"/>
            <a:ext cx="2011680" cy="2560320"/>
          </a:xfrm>
          <a:prstGeom prst="roundRect">
            <a:avLst/>
          </a:prstGeom>
          <a:solidFill>
            <a:srgbClr val="F0F5FA"/>
          </a:solidFill>
          <a:ln w="381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3366"/>
                </a:solidFill>
              </a:defRPr>
            </a:pPr>
            <a:r>
              <a:t>Phase 3</a:t>
            </a:r>
          </a:p>
          <a:p>
            <a:r>
              <a:t>Q3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240" y="4480560"/>
            <a:ext cx="1737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00">
                <a:solidFill>
                  <a:srgbClr val="333333"/>
                </a:solidFill>
              </a:defRPr>
            </a:pPr>
            <a:r>
              <a:t>• Implement feedback loops</a:t>
            </a:r>
          </a:p>
          <a:p>
            <a:pPr>
              <a:spcBef>
                <a:spcPts val="400"/>
              </a:spcBef>
              <a:defRPr sz="1100">
                <a:solidFill>
                  <a:srgbClr val="333333"/>
                </a:solidFill>
              </a:defRPr>
            </a:pPr>
            <a:r>
              <a:t>• Optimize engagement</a:t>
            </a:r>
          </a:p>
          <a:p>
            <a:pPr>
              <a:spcBef>
                <a:spcPts val="400"/>
              </a:spcBef>
              <a:defRPr sz="1100">
                <a:solidFill>
                  <a:srgbClr val="333333"/>
                </a:solidFill>
              </a:defRPr>
            </a:pPr>
            <a:r>
              <a:t>• Measure satisfaction</a:t>
            </a:r>
          </a:p>
        </p:txBody>
      </p:sp>
      <p:sp>
        <p:nvSpPr>
          <p:cNvPr id="18" name="Oval 17"/>
          <p:cNvSpPr/>
          <p:nvPr/>
        </p:nvSpPr>
        <p:spPr>
          <a:xfrm>
            <a:off x="7086600" y="3063240"/>
            <a:ext cx="274320" cy="274320"/>
          </a:xfrm>
          <a:prstGeom prst="ellipse">
            <a:avLst/>
          </a:prstGeom>
          <a:solidFill>
            <a:srgbClr val="00B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0" y="3840480"/>
            <a:ext cx="2011680" cy="2560320"/>
          </a:xfrm>
          <a:prstGeom prst="roundRect">
            <a:avLst/>
          </a:prstGeom>
          <a:solidFill>
            <a:srgbClr val="F0F5FA"/>
          </a:solidFill>
          <a:ln w="38100">
            <a:solidFill>
              <a:srgbClr val="00B4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B478"/>
                </a:solidFill>
              </a:defRPr>
            </a:pPr>
            <a:r>
              <a:t>Phase 4</a:t>
            </a:r>
          </a:p>
          <a:p>
            <a:r>
              <a:t>Q4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480560"/>
            <a:ext cx="1737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00">
                <a:solidFill>
                  <a:srgbClr val="333333"/>
                </a:solidFill>
              </a:defRPr>
            </a:pPr>
            <a:r>
              <a:t>• Scale successful programs</a:t>
            </a:r>
          </a:p>
          <a:p>
            <a:pPr>
              <a:spcBef>
                <a:spcPts val="400"/>
              </a:spcBef>
              <a:defRPr sz="1100">
                <a:solidFill>
                  <a:srgbClr val="333333"/>
                </a:solidFill>
              </a:defRPr>
            </a:pPr>
            <a:r>
              <a:t>• Launch advanced features</a:t>
            </a:r>
          </a:p>
          <a:p>
            <a:pPr>
              <a:spcBef>
                <a:spcPts val="400"/>
              </a:spcBef>
              <a:defRPr sz="1100">
                <a:solidFill>
                  <a:srgbClr val="333333"/>
                </a:solidFill>
              </a:defRPr>
            </a:pPr>
            <a:r>
              <a:t>• Full market deployment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Success Metrics &amp; Next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2286000" cy="1371600"/>
          </a:xfrm>
          <a:prstGeom prst="roundRect">
            <a:avLst/>
          </a:prstGeom>
          <a:solidFill>
            <a:srgbClr val="F0F5FA"/>
          </a:solidFill>
          <a:ln w="2540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78D7"/>
                </a:solidFill>
              </a:defRPr>
            </a:pPr>
            <a:r>
              <a:t>75%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Target Comprehension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1645920"/>
            <a:ext cx="2286000" cy="1371600"/>
          </a:xfrm>
          <a:prstGeom prst="roundRect">
            <a:avLst/>
          </a:prstGeom>
          <a:solidFill>
            <a:srgbClr val="F0F5FA"/>
          </a:solidFill>
          <a:ln w="2540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82880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78D7"/>
                </a:solidFill>
              </a:defRPr>
            </a:pPr>
            <a:r>
              <a:t>90%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Satisfaction Goal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645920"/>
            <a:ext cx="2286000" cy="1371600"/>
          </a:xfrm>
          <a:prstGeom prst="roundRect">
            <a:avLst/>
          </a:prstGeom>
          <a:solidFill>
            <a:srgbClr val="F0F5FA"/>
          </a:solidFill>
          <a:ln w="2540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82880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78D7"/>
                </a:solidFill>
              </a:defRPr>
            </a:pPr>
            <a:r>
              <a:t>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Retention Increase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4632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Target: Increase policy comprehension from 18% to 75% by Q4 2025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Goal: Achieve 90% customer satisfaction through proactive engagement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Metric: Reduce support inquiries by 40% via self-service tools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KPI: Improve retention rates by 35% through education initiatives</a:t>
            </a:r>
          </a:p>
          <a:p>
            <a:pPr>
              <a:spcBef>
                <a:spcPts val="800"/>
              </a:spcBef>
              <a:defRPr sz="1600">
                <a:solidFill>
                  <a:srgbClr val="333333"/>
                </a:solidFill>
              </a:defRPr>
            </a:pPr>
            <a:r>
              <a:t>Action: Begin Phase 1 implementation within 30 days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