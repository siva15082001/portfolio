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14213D"/>
                </a:solidFill>
                <a:latin typeface="Helvetica Neue"/>
              </a:defRPr>
            </a:pPr>
            <a:r>
              <a:t>Life Insurance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475569"/>
                </a:solidFill>
                <a:latin typeface="Helvetica Neue"/>
              </a:defRPr>
            </a:pPr>
            <a:r>
              <a:t>Customer Experience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75569"/>
                </a:solidFill>
                <a:latin typeface="Helvetica Neue"/>
              </a:defRPr>
            </a:pPr>
            <a:r>
              <a:t>Product-Market Fit Study | 2024</a:t>
            </a:r>
          </a:p>
        </p:txBody>
      </p:sp>
      <p:sp>
        <p:nvSpPr>
          <p:cNvPr id="7" name="Oval 6"/>
          <p:cNvSpPr/>
          <p:nvPr/>
        </p:nvSpPr>
        <p:spPr>
          <a:xfrm>
            <a:off x="7315200" y="109728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73152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Helvetica Neue"/>
              </a:defRPr>
            </a:pPr>
            <a:r>
              <a:t>Executive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2377440" cy="12801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23774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4213D"/>
                </a:solidFill>
                <a:latin typeface="Helvetica Neue"/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  <a:latin typeface="Helvetica Neue"/>
              </a:defRPr>
            </a:pPr>
            <a:r>
              <a:t>Participants Interviewed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71600"/>
            <a:ext cx="2377440" cy="12801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37744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6459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4213D"/>
                </a:solidFill>
                <a:latin typeface="Helvetica Neue"/>
              </a:defRPr>
            </a:pPr>
            <a:r>
              <a:t>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  <a:latin typeface="Helvetica Neue"/>
              </a:defRPr>
            </a:pPr>
            <a:r>
              <a:t>Active Policyholders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371600"/>
            <a:ext cx="2377440" cy="12801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371600"/>
            <a:ext cx="237744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6459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4213D"/>
                </a:solidFill>
                <a:latin typeface="Helvetica Neue"/>
              </a:defRPr>
            </a:pPr>
            <a:r>
              <a:t>86%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  <a:latin typeface="Helvetica Neue"/>
              </a:defRPr>
            </a:pPr>
            <a:r>
              <a:t>Adoption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83464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Comprehensive qualitative study examining life insurance customer experience and engagement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Mixed-method approach: Primary user interviews + Secondary market research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Key focus: Policy understanding, provider relationships, post-purchase satisfaction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Critical insight: Significant gaps in customer education and ongoing support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297680"/>
            <a:ext cx="7315200" cy="91440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434840"/>
            <a:ext cx="6766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Helvetica Neue"/>
              </a:defRPr>
            </a:pPr>
            <a:r>
              <a:t>72% of policyholders cannot confidently explain their own coverage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10B981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Helvetica Neue"/>
              </a:defRPr>
            </a:pPr>
            <a:r>
              <a:t>Research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3F4F6"/>
                </a:solidFill>
                <a:latin typeface="Helvetica Neue"/>
              </a:defRPr>
            </a:pPr>
            <a:r>
              <a:t>Understanding the Customer Journey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73152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Helvetica Neue"/>
              </a:defRPr>
            </a:pPr>
            <a:r>
              <a:t>Research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2377440" cy="12801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23774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4213D"/>
                </a:solidFill>
                <a:latin typeface="Helvetica Neue"/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  <a:latin typeface="Helvetica Neue"/>
              </a:defRPr>
            </a:pPr>
            <a:r>
              <a:t>Primary Interviews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71600"/>
            <a:ext cx="2377440" cy="12801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37744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6459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4213D"/>
                </a:solidFill>
                <a:latin typeface="Helvetica Neue"/>
              </a:defRPr>
            </a:pPr>
            <a: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  <a:latin typeface="Helvetica Neue"/>
              </a:defRPr>
            </a:pPr>
            <a:r>
              <a:t>Secondary Profiles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371600"/>
            <a:ext cx="2377440" cy="12801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371600"/>
            <a:ext cx="237744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6459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4213D"/>
                </a:solidFill>
                <a:latin typeface="Helvetica Neue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  <a:latin typeface="Helvetica Neue"/>
              </a:defRPr>
            </a:pPr>
            <a:r>
              <a:t>Study Weeks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834640"/>
            <a:ext cx="7315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Primary Research: Deep-dive interviews with 7 current policyholders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   → Ages 25-54, diverse employment sectors (education, healthcare, tech)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   → Mix of individual and employer-sponsored coverage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Secondary Research: Market data and industry benchmarking (18 profiles)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   → Competitive analysis of provider engagement models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   → Customer satisfaction trends and pain point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Interview Focus Areas: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   → Purchase journey and decision-making process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   → Policy comprehension and confidence levels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   → Provider interaction frequency and quality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   → Unmet needs and improvement opportunities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73152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Helvetica Neue"/>
              </a:defRPr>
            </a:pPr>
            <a:r>
              <a:t>Participant Profile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2377440" cy="12801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23774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4213D"/>
                </a:solidFill>
                <a:latin typeface="Helvetica Neue"/>
              </a:defRPr>
            </a:pPr>
            <a: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  <a:latin typeface="Helvetica Neue"/>
              </a:defRPr>
            </a:pPr>
            <a:r>
              <a:t>Average 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71600"/>
            <a:ext cx="2377440" cy="12801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37744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6459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4213D"/>
                </a:solidFill>
                <a:latin typeface="Helvetica Neue"/>
              </a:defRPr>
            </a:pPr>
            <a:r>
              <a:t>43%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  <a:latin typeface="Helvetica Neue"/>
              </a:defRPr>
            </a:pPr>
            <a:r>
              <a:t>Female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371600"/>
            <a:ext cx="2377440" cy="12801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371600"/>
            <a:ext cx="237744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6459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4213D"/>
                </a:solidFill>
                <a:latin typeface="Helvetica Neue"/>
              </a:defRPr>
            </a:pPr>
            <a:r>
              <a:t>67%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  <a:latin typeface="Helvetica Neue"/>
              </a:defRPr>
            </a:pPr>
            <a:r>
              <a:t>Employer Plans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83464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Age Range: 25-54 years (Young professionals to mid-career)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Gender: 43% Female, 57% Male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Relationship Status: 58% Married, 28% Single, 14% Engaged/Other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Coverage Details: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   → 67% Employer-provided (standard benefit packages)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   → 24% Individual policies (self-purchased)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   → 9% Mixed coverage (employer + personal)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Policy Types: Majority term life (30-year), limited awareness of whole/universal options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10B981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Helvetica Neue"/>
              </a:defRPr>
            </a:pPr>
            <a: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3F4F6"/>
                </a:solidFill>
                <a:latin typeface="Helvetica Neue"/>
              </a:defRPr>
            </a:pPr>
            <a:r>
              <a:t>Insights from Primary &amp; Secondary Research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73152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Helvetica Neue"/>
              </a:defRPr>
            </a:pPr>
            <a:r>
              <a:t>Critical Gap: Policy Comprehension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Helvetica Neue"/>
              </a:defRPr>
            </a:pPr>
            <a:r>
              <a:t>Percentage of respondents struggling with policy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Helvetica Neue"/>
              </a:defRPr>
            </a:pPr>
            <a:r>
              <a:t>Cannot explain coverage confidently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103120"/>
            <a:ext cx="5486400" cy="274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0" y="2103120"/>
            <a:ext cx="4438435" cy="27432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30275" y="201168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4213D"/>
                </a:solidFill>
                <a:latin typeface="Helvetica Neue"/>
              </a:defRPr>
            </a:pPr>
            <a:r>
              <a:t>72%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Helvetica Neue"/>
              </a:defRPr>
            </a:pPr>
            <a:r>
              <a:t>Unaware of conversion options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2880360"/>
            <a:ext cx="5486400" cy="274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0400" y="2880360"/>
            <a:ext cx="5486400" cy="27432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278892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4213D"/>
                </a:solidFill>
                <a:latin typeface="Helvetica Neue"/>
              </a:defRPr>
            </a:pPr>
            <a:r>
              <a:t>89%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6616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Helvetica Neue"/>
              </a:defRPr>
            </a:pPr>
            <a:r>
              <a:t>Don't know policy details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3657600"/>
            <a:ext cx="5486400" cy="274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0" y="3657600"/>
            <a:ext cx="4191856" cy="27432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83696" y="356616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4213D"/>
                </a:solidFill>
                <a:latin typeface="Helvetica Neue"/>
              </a:defRPr>
            </a:pPr>
            <a:r>
              <a:t>68%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4340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Helvetica Neue"/>
              </a:defRPr>
            </a:pPr>
            <a:r>
              <a:t>Confused by insurance terms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4434840"/>
            <a:ext cx="5486400" cy="274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00400" y="4434840"/>
            <a:ext cx="5054885" cy="27432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6725" y="434340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4213D"/>
                </a:solidFill>
                <a:latin typeface="Helvetica Neue"/>
              </a:defRPr>
            </a:pPr>
            <a:r>
              <a:t>82%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12064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Helvetica Neue"/>
              </a:defRPr>
            </a:pPr>
            <a:r>
              <a:t>Never reviewed policy documents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5212080"/>
            <a:ext cx="5486400" cy="274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200400" y="5212080"/>
            <a:ext cx="3945276" cy="27432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37116" y="512064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4213D"/>
                </a:solidFill>
                <a:latin typeface="Helvetica Neue"/>
              </a:defRPr>
            </a:pPr>
            <a:r>
              <a:t>64%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73152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Helvetica Neue"/>
              </a:defRPr>
            </a:pPr>
            <a:r>
              <a:t>Provider Engagement Deficit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Helvetica Neue"/>
              </a:defRPr>
            </a:pPr>
            <a:r>
              <a:t>Customer interaction with insurance providers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Helvetica Neue"/>
              </a:defRPr>
            </a:pPr>
            <a:r>
              <a:t>No regular contact from provider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103120"/>
            <a:ext cx="5486400" cy="274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0" y="2103120"/>
            <a:ext cx="5486400" cy="27432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201168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4213D"/>
                </a:solidFill>
                <a:latin typeface="Helvetica Neue"/>
              </a:defRPr>
            </a:pPr>
            <a:r>
              <a:t>91%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Helvetica Neue"/>
              </a:defRPr>
            </a:pPr>
            <a:r>
              <a:t>Never heard from agent post-purchase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2880360"/>
            <a:ext cx="5486400" cy="274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0400" y="2880360"/>
            <a:ext cx="4099727" cy="27432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91567" y="278892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4213D"/>
                </a:solidFill>
                <a:latin typeface="Helvetica Neue"/>
              </a:defRPr>
            </a:pPr>
            <a:r>
              <a:t>68%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6616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Helvetica Neue"/>
              </a:defRPr>
            </a:pPr>
            <a:r>
              <a:t>Only receive annual premium notices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3657600"/>
            <a:ext cx="5486400" cy="274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0" y="3657600"/>
            <a:ext cx="4702628" cy="27432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4468" y="356616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4213D"/>
                </a:solidFill>
                <a:latin typeface="Helvetica Neue"/>
              </a:defRPr>
            </a:pPr>
            <a:r>
              <a:t>78%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4340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Helvetica Neue"/>
              </a:defRPr>
            </a:pPr>
            <a:r>
              <a:t>No proactive support services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4434840"/>
            <a:ext cx="5486400" cy="274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00400" y="4434840"/>
            <a:ext cx="5064369" cy="27432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6209" y="434340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4213D"/>
                </a:solidFill>
                <a:latin typeface="Helvetica Neue"/>
              </a:defRPr>
            </a:pPr>
            <a:r>
              <a:t>84%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12064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Helvetica Neue"/>
              </a:defRPr>
            </a:pPr>
            <a:r>
              <a:t>Difficult to reach when needed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5212080"/>
            <a:ext cx="5486400" cy="274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200400" y="5212080"/>
            <a:ext cx="3557116" cy="27432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48956" y="512064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4213D"/>
                </a:solidFill>
                <a:latin typeface="Helvetica Neue"/>
              </a:defRPr>
            </a:pPr>
            <a:r>
              <a:t>59%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73152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Helvetica Neue"/>
              </a:defRPr>
            </a:pPr>
            <a:r>
              <a:t>Customer Pain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3931920" cy="2194560"/>
          </a:xfrm>
          <a:prstGeom prst="roundRect">
            <a:avLst/>
          </a:prstGeom>
          <a:solidFill>
            <a:srgbClr val="F9FAFB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2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13D"/>
                </a:solidFill>
                <a:latin typeface="Helvetica Neue"/>
              </a:defRPr>
            </a:pPr>
            <a:r>
              <a:t>Trust &amp; Reliability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Helvetica Neue"/>
              </a:defRPr>
            </a:pPr>
            <a:r>
              <a:t>64% concerned about claim payout timing and reliability. Fear of delays during critical life events.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645920"/>
            <a:ext cx="3931920" cy="2194560"/>
          </a:xfrm>
          <a:prstGeom prst="roundRect">
            <a:avLst/>
          </a:prstGeom>
          <a:solidFill>
            <a:srgbClr val="F9FAFB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66360" y="18745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187452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560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13D"/>
                </a:solidFill>
                <a:latin typeface="Helvetica Neue"/>
              </a:defRPr>
            </a:pPr>
            <a:r>
              <a:t>Cost Barriers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9718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Helvetica Neue"/>
              </a:defRPr>
            </a:pPr>
            <a:r>
              <a:t>71% cite affordability as primary obstacle to adequate coverage. Unclear value proposition.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60520"/>
            <a:ext cx="3931920" cy="2194560"/>
          </a:xfrm>
          <a:prstGeom prst="roundRect">
            <a:avLst/>
          </a:prstGeom>
          <a:solidFill>
            <a:srgbClr val="F9FAFB"/>
          </a:solidFill>
          <a:ln w="381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4389120"/>
            <a:ext cx="548640" cy="5486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38912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74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13D"/>
                </a:solidFill>
                <a:latin typeface="Helvetica Neue"/>
              </a:defRPr>
            </a:pPr>
            <a:r>
              <a:t>Complexity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864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Helvetica Neue"/>
              </a:defRPr>
            </a:pPr>
            <a:r>
              <a:t>82% find policy terms confusing. Legal jargon and unclear benefit structures create frustration.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0" y="4160520"/>
            <a:ext cx="3931920" cy="2194560"/>
          </a:xfrm>
          <a:prstGeom prst="roundRect">
            <a:avLst/>
          </a:prstGeom>
          <a:solidFill>
            <a:srgbClr val="F9FAFB"/>
          </a:solidFill>
          <a:ln w="381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66360" y="4389120"/>
            <a:ext cx="548640" cy="54864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438912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5074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13D"/>
                </a:solidFill>
                <a:latin typeface="Helvetica Neue"/>
              </a:defRPr>
            </a:pPr>
            <a:r>
              <a:t>Transparency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54864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Helvetica Neue"/>
              </a:defRPr>
            </a:pPr>
            <a:r>
              <a:t>76% want clearer communication about changes, costs, and coverage limitations.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73152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Helvetica Neue"/>
              </a:defRPr>
            </a:pPr>
            <a:r>
              <a:t>Identified Opportunities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2377440" cy="12801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23774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4213D"/>
                </a:solidFill>
                <a:latin typeface="Helvetica Neue"/>
              </a:defRPr>
            </a:pPr>
            <a:r>
              <a:t>94%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  <a:latin typeface="Helvetica Neue"/>
              </a:defRPr>
            </a:pPr>
            <a:r>
              <a:t>Want Education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71600"/>
            <a:ext cx="2377440" cy="12801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37744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6459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4213D"/>
                </a:solidFill>
                <a:latin typeface="Helvetica Neue"/>
              </a:defRPr>
            </a:pPr>
            <a:r>
              <a:t>87%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  <a:latin typeface="Helvetica Neue"/>
              </a:defRPr>
            </a:pPr>
            <a:r>
              <a:t>Want Digital Tools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371600"/>
            <a:ext cx="2377440" cy="12801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371600"/>
            <a:ext cx="237744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6459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4213D"/>
                </a:solidFill>
                <a:latin typeface="Helvetica Neue"/>
              </a:defRPr>
            </a:pPr>
            <a:r>
              <a:t>91%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  <a:latin typeface="Helvetica Neue"/>
              </a:defRPr>
            </a:pPr>
            <a:r>
              <a:t>Want Regular Check-ins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834640"/>
            <a:ext cx="7315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Education &amp; Enablement: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   → 94% interested in policy optimization tips and benefit education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   → Desire for plain-language guides and interactive calculators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Digital Experience: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   → 87% prefer self-service portals for policy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   → Interest in mobile apps for quick access to coverage details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Proactive Support: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   → 91% want quarterly touchpoints from providers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   → 78% need guidance during life events (marriage, children, home purchase)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Pricing Transparency: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   → 83% would consider coverage increases with clearer cost breakdowns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10B981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Helvetica Neue"/>
              </a:defRPr>
            </a:pPr>
            <a:r>
              <a:t>Strategic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3F4F6"/>
                </a:solidFill>
                <a:latin typeface="Helvetica Neue"/>
              </a:defRPr>
            </a:pPr>
            <a:r>
              <a:t>Actionable Initiatives to Close Gaps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73152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Helvetica Neue"/>
              </a:defRPr>
            </a:pPr>
            <a:r>
              <a:t>Core Recommendations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3931920" cy="2194560"/>
          </a:xfrm>
          <a:prstGeom prst="roundRect">
            <a:avLst/>
          </a:prstGeom>
          <a:solidFill>
            <a:srgbClr val="F9FAFB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2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13D"/>
                </a:solidFill>
                <a:latin typeface="Helvetica Neue"/>
              </a:defRPr>
            </a:pPr>
            <a:r>
              <a:t>Digital Education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Helvetica Neue"/>
              </a:defRPr>
            </a:pPr>
            <a:r>
              <a:t>Launch interactive hub with policy explainers, benefit calculators, and personalized recommendations. Plain language throughout.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645920"/>
            <a:ext cx="3931920" cy="2194560"/>
          </a:xfrm>
          <a:prstGeom prst="roundRect">
            <a:avLst/>
          </a:prstGeom>
          <a:solidFill>
            <a:srgbClr val="F9FAFB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66360" y="18745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187452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560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13D"/>
                </a:solidFill>
                <a:latin typeface="Helvetica Neue"/>
              </a:defRPr>
            </a:pPr>
            <a:r>
              <a:t>Proactive Engagement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9718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Helvetica Neue"/>
              </a:defRPr>
            </a:pPr>
            <a:r>
              <a:t>Implement quarterly touchpoints via email/app. Life-stage guidance, coverage reviews, and optimization suggestions.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60520"/>
            <a:ext cx="3931920" cy="2194560"/>
          </a:xfrm>
          <a:prstGeom prst="roundRect">
            <a:avLst/>
          </a:prstGeom>
          <a:solidFill>
            <a:srgbClr val="F9FAFB"/>
          </a:solidFill>
          <a:ln w="381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4389120"/>
            <a:ext cx="548640" cy="5486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38912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74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13D"/>
                </a:solidFill>
                <a:latin typeface="Helvetica Neue"/>
              </a:defRPr>
            </a:pPr>
            <a:r>
              <a:t>Simplified Communications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864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Helvetica Neue"/>
              </a:defRPr>
            </a:pPr>
            <a:r>
              <a:t>Redesign all materials using clear language, visual aids, and step-by-step guides. Eliminate jargon.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0" y="4160520"/>
            <a:ext cx="3931920" cy="2194560"/>
          </a:xfrm>
          <a:prstGeom prst="roundRect">
            <a:avLst/>
          </a:prstGeom>
          <a:solidFill>
            <a:srgbClr val="F9FAFB"/>
          </a:solidFill>
          <a:ln w="381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66360" y="4389120"/>
            <a:ext cx="548640" cy="54864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438912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5074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13D"/>
                </a:solidFill>
                <a:latin typeface="Helvetica Neue"/>
              </a:defRPr>
            </a:pPr>
            <a:r>
              <a:t>Trust-Building Program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54864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Helvetica Neue"/>
              </a:defRPr>
            </a:pPr>
            <a:r>
              <a:t>Share claim success stories, transparent timelines, and beneficiary support resources. Build confidence.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73152" cy="3657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Helvetica Neue"/>
              </a:defRPr>
            </a:pPr>
            <a:r>
              <a:t>Implementation Roadmap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71600" y="2286000"/>
            <a:ext cx="6400800" cy="0"/>
          </a:xfrm>
          <a:prstGeom prst="line">
            <a:avLst/>
          </a:prstGeom>
          <a:ln w="38100">
            <a:solidFill>
              <a:srgbClr val="F3F4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188720" y="2103120"/>
            <a:ext cx="365760" cy="365760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Helvetica Neue"/>
              </a:defRPr>
            </a:pPr>
            <a:r>
              <a:t>Q1 2025</a:t>
            </a:r>
          </a:p>
          <a:p>
            <a:r>
              <a:t>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1463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Helvetica Neue"/>
              </a:defRPr>
            </a:pPr>
            <a:r>
              <a:t>• Audit communications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Helvetica Neue"/>
              </a:defRPr>
            </a:pPr>
            <a:r>
              <a:t>• Design education content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Helvetica Neue"/>
              </a:defRPr>
            </a:pPr>
            <a:r>
              <a:t>• Build platform MVP</a:t>
            </a:r>
          </a:p>
        </p:txBody>
      </p:sp>
      <p:sp>
        <p:nvSpPr>
          <p:cNvPr id="9" name="Oval 8"/>
          <p:cNvSpPr/>
          <p:nvPr/>
        </p:nvSpPr>
        <p:spPr>
          <a:xfrm>
            <a:off x="3322320" y="2103120"/>
            <a:ext cx="365760" cy="365760"/>
          </a:xfrm>
          <a:prstGeom prst="ellipse">
            <a:avLst/>
          </a:prstGeom>
          <a:solidFill>
            <a:srgbClr val="3B82F6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65120" y="15544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82F6"/>
                </a:solidFill>
                <a:latin typeface="Helvetica Neue"/>
              </a:defRPr>
            </a:pPr>
            <a:r>
              <a:t>Q2 2025</a:t>
            </a:r>
          </a:p>
          <a:p>
            <a:r>
              <a:t>Launch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3680" y="2651760"/>
            <a:ext cx="1463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Helvetica Neue"/>
              </a:defRPr>
            </a:pPr>
            <a:r>
              <a:t>• Launch education hub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Helvetica Neue"/>
              </a:defRPr>
            </a:pPr>
            <a:r>
              <a:t>• Begin outreach program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Helvetica Neue"/>
              </a:defRPr>
            </a:pPr>
            <a:r>
              <a:t>• Train support teams</a:t>
            </a:r>
          </a:p>
        </p:txBody>
      </p:sp>
      <p:sp>
        <p:nvSpPr>
          <p:cNvPr id="12" name="Oval 11"/>
          <p:cNvSpPr/>
          <p:nvPr/>
        </p:nvSpPr>
        <p:spPr>
          <a:xfrm>
            <a:off x="5455920" y="2103120"/>
            <a:ext cx="365760" cy="365760"/>
          </a:xfrm>
          <a:prstGeom prst="ellipse">
            <a:avLst/>
          </a:prstGeom>
          <a:solidFill>
            <a:srgbClr val="FBBF24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98720" y="15544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BBF24"/>
                </a:solidFill>
                <a:latin typeface="Helvetica Neue"/>
              </a:defRPr>
            </a:pPr>
            <a:r>
              <a:t>Q3 2025</a:t>
            </a:r>
          </a:p>
          <a:p>
            <a:r>
              <a:t>Optimize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280" y="2651760"/>
            <a:ext cx="1463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Helvetica Neue"/>
              </a:defRPr>
            </a:pPr>
            <a:r>
              <a:t>• Gather feedback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Helvetica Neue"/>
              </a:defRPr>
            </a:pPr>
            <a:r>
              <a:t>• Refine engagement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Helvetica Neue"/>
              </a:defRPr>
            </a:pPr>
            <a:r>
              <a:t>• Measure impact</a:t>
            </a:r>
          </a:p>
        </p:txBody>
      </p:sp>
      <p:sp>
        <p:nvSpPr>
          <p:cNvPr id="15" name="Oval 14"/>
          <p:cNvSpPr/>
          <p:nvPr/>
        </p:nvSpPr>
        <p:spPr>
          <a:xfrm>
            <a:off x="7589520" y="2103120"/>
            <a:ext cx="365760" cy="365760"/>
          </a:xfrm>
          <a:prstGeom prst="ellipse">
            <a:avLst/>
          </a:prstGeom>
          <a:solidFill>
            <a:srgbClr val="F43F5E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15544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43F5E"/>
                </a:solidFill>
                <a:latin typeface="Helvetica Neue"/>
              </a:defRPr>
            </a:pPr>
            <a:r>
              <a:t>Q4 2025</a:t>
            </a:r>
          </a:p>
          <a:p>
            <a:r>
              <a:t>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651760"/>
            <a:ext cx="1463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Helvetica Neue"/>
              </a:defRPr>
            </a:pPr>
            <a:r>
              <a:t>• Full deployment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Helvetica Neue"/>
              </a:defRPr>
            </a:pPr>
            <a:r>
              <a:t>• Advanced features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Helvetica Neue"/>
              </a:defRPr>
            </a:pPr>
            <a:r>
              <a:t>• Market expansion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73152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Helvetica Neue"/>
              </a:defRPr>
            </a:pPr>
            <a:r>
              <a:t>Success Metrics &amp; 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2377440" cy="12801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23774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4213D"/>
                </a:solidFill>
                <a:latin typeface="Helvetica Neue"/>
              </a:defRPr>
            </a:pPr>
            <a:r>
              <a:t>75%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  <a:latin typeface="Helvetica Neue"/>
              </a:defRPr>
            </a:pPr>
            <a:r>
              <a:t>Target Comprehension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71600"/>
            <a:ext cx="2377440" cy="12801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37744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6459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4213D"/>
                </a:solidFill>
                <a:latin typeface="Helvetica Neue"/>
              </a:defRPr>
            </a:pPr>
            <a:r>
              <a:t>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  <a:latin typeface="Helvetica Neue"/>
              </a:defRPr>
            </a:pPr>
            <a:r>
              <a:t>Satisfaction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371600"/>
            <a:ext cx="2377440" cy="12801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371600"/>
            <a:ext cx="237744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6459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4213D"/>
                </a:solidFill>
                <a:latin typeface="Helvetica Neue"/>
              </a:defRPr>
            </a:pPr>
            <a:r>
              <a:t>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  <a:latin typeface="Helvetica Neue"/>
              </a:defRPr>
            </a:pPr>
            <a:r>
              <a:t>Retention Lift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834640"/>
            <a:ext cx="7315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Key Performance Indicators: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   → Increase policy comprehension from 18% to 75% by Q4 2025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   → Achieve 90% customer satisfaction through proactive engagement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   → Reduce support inquiries by 40% via self-service tools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   → Improve retention rates by 35% through education initiatives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Immediate Next Steps: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   → Assemble cross-functional implementation team (Week 1)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   → Begin content audit and design sprint (Week 2-4)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   → Develop platform MVP with key features (Q1 2025)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1F2937"/>
                </a:solidFill>
                <a:latin typeface="Helvetica Neue"/>
              </a:defRPr>
            </a:pPr>
            <a:r>
              <a:t>   → Pilot with 100 customers before full rollout (Q2 2025)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